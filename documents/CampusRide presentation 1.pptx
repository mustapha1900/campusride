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26"/>
  </p:notesMasterIdLst>
  <p:handoutMasterIdLst>
    <p:handoutMasterId r:id="rId27"/>
  </p:handoutMasterIdLst>
  <p:sldIdLst>
    <p:sldId id="334" r:id="rId5"/>
    <p:sldId id="316" r:id="rId6"/>
    <p:sldId id="342" r:id="rId7"/>
    <p:sldId id="324" r:id="rId8"/>
    <p:sldId id="346" r:id="rId9"/>
    <p:sldId id="336" r:id="rId10"/>
    <p:sldId id="328" r:id="rId11"/>
    <p:sldId id="350" r:id="rId12"/>
    <p:sldId id="351" r:id="rId13"/>
    <p:sldId id="352" r:id="rId14"/>
    <p:sldId id="353" r:id="rId15"/>
    <p:sldId id="354" r:id="rId16"/>
    <p:sldId id="355" r:id="rId17"/>
    <p:sldId id="356" r:id="rId18"/>
    <p:sldId id="357" r:id="rId19"/>
    <p:sldId id="358" r:id="rId20"/>
    <p:sldId id="359" r:id="rId21"/>
    <p:sldId id="360" r:id="rId22"/>
    <p:sldId id="361" r:id="rId23"/>
    <p:sldId id="362" r:id="rId24"/>
    <p:sldId id="36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A0F9CBAF-3532-4E05-BF5C-EC6A00166E45}">
          <p14:sldIdLst>
            <p14:sldId id="334"/>
            <p14:sldId id="316"/>
            <p14:sldId id="342"/>
            <p14:sldId id="324"/>
            <p14:sldId id="346"/>
            <p14:sldId id="336"/>
            <p14:sldId id="328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4967" autoAdjust="0"/>
  </p:normalViewPr>
  <p:slideViewPr>
    <p:cSldViewPr snapToGrid="0">
      <p:cViewPr varScale="1">
        <p:scale>
          <a:sx n="59" d="100"/>
          <a:sy n="59" d="100"/>
        </p:scale>
        <p:origin x="56" y="444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9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93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A8D40-6B3D-BED2-DCDB-A98AD20A9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47897-D060-2247-24B3-6AE693385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2AEF78-2440-3772-7BE2-2168A5646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98D41-FAA6-A70C-DE18-E426B0A50F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613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B041D-C949-4D62-A09A-146834B1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2EDEE-5774-E11A-1024-353C1A3ED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95710-337A-E515-1091-AA7416C30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51C19-5745-1D26-D5F9-6B8F2B0DF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5172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9CAC3-1B89-619A-BF06-0D2B06770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40990C-E3A8-7E10-6B89-1F2989EDF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6D00BC-5341-CA66-B91F-FDF6A5F0C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6C1AE-131E-7F9F-A768-F5D411B57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03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EED73-5BC6-FB73-C900-5420D47F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1C1F8A-4576-DC51-6DD5-408187952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3E6CB-04D3-AE70-18EA-07557F8AC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75C6A-4CA5-6046-604E-4CBB58A44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3204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44BE6-5554-950E-6740-3C1AA6831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E0D050-1C9C-573A-CCA0-2FD3E2E41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0DF82D-2A02-6D42-E472-A724A083D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7C373-B327-55A4-DC7F-1EC8D2909F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3972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3C05F-6A7E-22E1-1C8F-C8F2C76AE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04404-8894-73D1-E922-76B6622FA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3DCEE-01CC-79E5-F3E5-497CA110C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BFA4D-D7CF-C5C1-D679-144C93582A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8011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B4E89-1A89-32BD-CB74-A5614B4D3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69562-EB9D-B1F3-1883-525E70390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0479D-6BC6-2A48-40EF-EFAEA6167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40274-7080-459D-5956-FF49E6E5B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4446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B5130-4F46-E17F-0D93-8D5A8F3DD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BC4FB-48AA-11AE-A9C6-69B9B7DE2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741F8E-5AF0-8755-4050-E6A933E58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998D-A89A-8F12-8CA3-CEDAB2249F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1680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A4073-6080-07BC-838C-DFC8262EA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5524C-D030-9C17-FB4D-F5C9877C5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290FC-6316-284D-769D-E8DCFD616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A6B6D-F110-F529-4360-412E325A8E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7791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DEDF5-66A4-331E-0084-8AA439433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D5D29-509A-32E5-4441-911BA4799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CE2E7F-5BB1-CC40-7BB7-3951B425D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74A41-7F21-0001-C70A-76BF3FFF9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8036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E51E6-EA93-418F-D6BD-4DBB21A04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4F0554-777A-4CE8-7A49-2AADC2F77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0341C-0C3A-323A-DB1F-AE88FD6D2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2CA3C-7CA4-1C19-A308-D56BC088C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4664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C1004-AC57-B516-44A0-DA74C0392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F25CB0-1F41-439C-D480-D7A90DF78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D5E044-331B-380C-8971-F8E76E711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BCAE9-C191-D15D-4F98-AD72D0FFA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5069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B690D-BCDB-56DD-C4F9-87F8A06A3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54FB3-2088-2E34-E16D-FD96134FD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DB6AA3-B352-10CD-143A-329AC2979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82462-9BF6-5315-ED18-6D16D8DE6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2752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12009-D820-A182-AA59-E000B3E5D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837F9-C021-28EB-CB69-9C17519FF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1A3943-BF8D-1D2C-7806-7C66F10A0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48005-7C17-79FB-2DF2-23BF4F44A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900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/>
          <a:lstStyle/>
          <a:p>
            <a:r>
              <a:rPr lang="en-US" dirty="0" err="1"/>
              <a:t>CampusRide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anchor="ctr">
            <a:normAutofit/>
          </a:bodyPr>
          <a:lstStyle/>
          <a:p>
            <a:r>
              <a:rPr lang="fr-CA"/>
              <a:t>Présenter par :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279526" y="1533524"/>
            <a:ext cx="4663440" cy="1895475"/>
          </a:xfrm>
        </p:spPr>
        <p:txBody>
          <a:bodyPr anchor="t">
            <a:normAutofit/>
          </a:bodyPr>
          <a:lstStyle/>
          <a:p>
            <a:r>
              <a:rPr lang="en-US" b="1"/>
              <a:t>Mohamed ROBLEH</a:t>
            </a:r>
          </a:p>
          <a:p>
            <a:r>
              <a:rPr lang="en-US" b="1"/>
              <a:t>Mustapha TOUBAL SEGHIR</a:t>
            </a:r>
          </a:p>
          <a:p>
            <a:r>
              <a:rPr lang="en-US" b="1"/>
              <a:t>Abdallah ABDOUDOU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520C53E-8329-74AB-5229-BCDE630B2E1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rcRect t="32366" r="3" b="33650"/>
          <a:stretch>
            <a:fillRect/>
          </a:stretch>
        </p:blipFill>
        <p:spPr>
          <a:xfrm>
            <a:off x="1280160" y="4692058"/>
            <a:ext cx="4663440" cy="1584918"/>
          </a:xfrm>
          <a:noFill/>
        </p:spPr>
      </p:pic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CONTEXTE DU PROJET :</a:t>
            </a:r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06CC7187-0D55-8D17-DB17-83EAB1EF8D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2210889"/>
            <a:ext cx="7498080" cy="4023360"/>
          </a:xfrm>
        </p:spPr>
        <p:txBody>
          <a:bodyPr/>
          <a:lstStyle/>
          <a:p>
            <a:r>
              <a:rPr lang="fr-FR" sz="2800" dirty="0" err="1"/>
              <a:t>CampusRide</a:t>
            </a:r>
            <a:r>
              <a:rPr lang="fr-FR" sz="2800" dirty="0"/>
              <a:t> est une application de covoiturage développée pour la communauté du Collège La Cité.</a:t>
            </a:r>
            <a:br>
              <a:rPr lang="fr-FR" sz="2800" dirty="0"/>
            </a:br>
            <a:r>
              <a:rPr lang="fr-FR" sz="2800" dirty="0"/>
              <a:t>Elle permet aux étudiants et employés de partager leurs trajets afin de réduire les coûts de transport et favoriser la collaboration.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FDAA-00CD-846E-A576-B59DFA73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anchor="b">
            <a:normAutofit/>
          </a:bodyPr>
          <a:lstStyle/>
          <a:p>
            <a:r>
              <a:rPr lang="en-US" dirty="0"/>
              <a:t>OBJECTIFS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A7BDE43-39D5-1EEE-DFB0-760E135EDF3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80160" y="685800"/>
            <a:ext cx="4937760" cy="402336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Faciliter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les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déplacements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domicile–campus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Mettre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relation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conducteurs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et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passagers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 Assurer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une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plateforme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sécurisée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et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fiable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Optimiser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la gestion des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trajets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et des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réservations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1A4AC45A-231E-1B53-8594-5552E68AF9B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rcRect l="36447" r="6485"/>
          <a:stretch>
            <a:fillRect/>
          </a:stretch>
        </p:blipFill>
        <p:spPr>
          <a:xfrm>
            <a:off x="6704755" y="685800"/>
            <a:ext cx="4937760" cy="40233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9EFE5C42-059F-482E-C029-E8FA5107E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TYPES D’UTILISATEURS :</a:t>
            </a:r>
          </a:p>
        </p:txBody>
      </p:sp>
      <p:pic>
        <p:nvPicPr>
          <p:cNvPr id="2051" name="Picture 3" descr="Admin icon of 3 types color, black and white, outline. Isolated vector sign symbol">
            <a:extLst>
              <a:ext uri="{FF2B5EF4-FFF2-40B4-BE49-F238E27FC236}">
                <a16:creationId xmlns:a16="http://schemas.microsoft.com/office/drawing/2014/main" id="{B38AC99C-DA25-2C16-9DA6-11628AB3F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09" r="3" b="3"/>
          <a:stretch>
            <a:fillRect/>
          </a:stretch>
        </p:blipFill>
        <p:spPr bwMode="auto">
          <a:xfrm>
            <a:off x="1279526" y="1533524"/>
            <a:ext cx="4663440" cy="1895475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28FD192-492A-A40D-E86A-BABC77587C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80160" y="3482974"/>
            <a:ext cx="4663440" cy="1190033"/>
          </a:xfrm>
        </p:spPr>
        <p:txBody>
          <a:bodyPr anchor="t">
            <a:normAutofit/>
          </a:bodyPr>
          <a:lstStyle/>
          <a:p>
            <a:r>
              <a:rPr lang="fr-FR" b="1" dirty="0"/>
              <a:t>Le système distingue trois types d’utilisateurs :</a:t>
            </a:r>
            <a:endParaRPr lang="en-US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C664A48-F723-FDA0-FC91-3690860B5F58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1279526" y="4316501"/>
            <a:ext cx="4663440" cy="158491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</a:rPr>
              <a:t>Passager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 : recherche et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</a:rPr>
              <a:t>réserve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 des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</a:rPr>
              <a:t>trajets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</a:rPr>
              <a:t>Conducteur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 : propose et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</a:rPr>
              <a:t>gère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 des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</a:rPr>
              <a:t>trajets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</a:rPr>
              <a:t>Administrateur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 : supervise et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</a:rPr>
              <a:t>contrôle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 la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</a:rPr>
              <a:t>plateforme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9664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698432-2D58-D940-A0AE-7748E2A48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Passager</a:t>
            </a:r>
            <a:r>
              <a:rPr lang="en-US" dirty="0"/>
              <a:t> et </a:t>
            </a:r>
            <a:r>
              <a:rPr lang="en-US" dirty="0" err="1"/>
              <a:t>conducteur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47ABD4-990A-BAC8-69FC-AF4C84F3A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anchor="ctr">
            <a:normAutofit/>
          </a:bodyPr>
          <a:lstStyle/>
          <a:p>
            <a:r>
              <a:rPr lang="en-US" dirty="0"/>
              <a:t>INSCRIPTION :</a:t>
            </a:r>
          </a:p>
        </p:txBody>
      </p:sp>
      <p:pic>
        <p:nvPicPr>
          <p:cNvPr id="6" name="Picture Placeholder 21">
            <a:extLst>
              <a:ext uri="{FF2B5EF4-FFF2-40B4-BE49-F238E27FC236}">
                <a16:creationId xmlns:a16="http://schemas.microsoft.com/office/drawing/2014/main" id="{1472EB4E-1296-AC66-19FA-B01BB8D8A5F8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rcRect t="12997" r="3" b="20373"/>
          <a:stretch>
            <a:fillRect/>
          </a:stretch>
        </p:blipFill>
        <p:spPr>
          <a:xfrm>
            <a:off x="1432560" y="1469572"/>
            <a:ext cx="4663440" cy="1921783"/>
          </a:xfrm>
          <a:noFill/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1E6A21B-7748-174B-D77E-8EE0B288C7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80160" y="4692058"/>
            <a:ext cx="4663440" cy="1584918"/>
          </a:xfrm>
        </p:spPr>
        <p:txBody>
          <a:bodyPr anchor="t">
            <a:normAutofit/>
          </a:bodyPr>
          <a:lstStyle/>
          <a:p>
            <a:r>
              <a:rPr lang="fr-FR"/>
              <a:t>L’utilisateur peut créer un compte en saisissant ses informations personnelles (nom, email, mot de passe).</a:t>
            </a:r>
            <a:br>
              <a:rPr lang="fr-FR"/>
            </a:br>
            <a:r>
              <a:rPr lang="fr-FR"/>
              <a:t>Le système vérifie la validité des données avant de créer le compte.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11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5676-8C12-6C38-B792-59F86BB1E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CE8D14-FE96-B516-16AF-25271FB59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640080"/>
            <a:ext cx="4815836" cy="2103120"/>
          </a:xfrm>
        </p:spPr>
        <p:txBody>
          <a:bodyPr anchor="ctr">
            <a:normAutofit/>
          </a:bodyPr>
          <a:lstStyle/>
          <a:p>
            <a:r>
              <a:rPr lang="en-US" dirty="0"/>
              <a:t>CONNEXION :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887F9C9-033B-27F0-F7BA-9AD2C687B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27" y="640080"/>
            <a:ext cx="5122889" cy="21031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dirty="0"/>
              <a:t>L’utilisateur se connecte à l’aide de ses identifiants.</a:t>
            </a:r>
            <a:br>
              <a:rPr lang="fr-FR" dirty="0"/>
            </a:br>
            <a:r>
              <a:rPr lang="fr-FR" dirty="0"/>
              <a:t>Après authentification réussie, il est redirigé vers son espace personnel sécurisé.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Placeholder 21">
            <a:extLst>
              <a:ext uri="{FF2B5EF4-FFF2-40B4-BE49-F238E27FC236}">
                <a16:creationId xmlns:a16="http://schemas.microsoft.com/office/drawing/2014/main" id="{47AA4BBF-DD0F-AB63-6125-5746B249185B}"/>
              </a:ext>
            </a:extLst>
          </p:cNvPr>
          <p:cNvPicPr>
            <a:picLocks noGrp="1" noChangeAspect="1"/>
          </p:cNvPicPr>
          <p:nvPr>
            <p:ph idx="21"/>
          </p:nvPr>
        </p:nvPicPr>
        <p:blipFill>
          <a:blip r:embed="rId3"/>
          <a:stretch/>
        </p:blipFill>
        <p:spPr>
          <a:xfrm>
            <a:off x="3035294" y="3017520"/>
            <a:ext cx="6863883" cy="3208866"/>
          </a:xfrm>
          <a:noFill/>
        </p:spPr>
      </p:pic>
    </p:spTree>
    <p:extLst>
      <p:ext uri="{BB962C8B-B14F-4D97-AF65-F5344CB8AC3E}">
        <p14:creationId xmlns:p14="http://schemas.microsoft.com/office/powerpoint/2010/main" val="743296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D100-5C0A-0D06-2426-FA3D52CB4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22E59C-D565-71EE-B137-9918DC06B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640080"/>
            <a:ext cx="4815836" cy="2103120"/>
          </a:xfrm>
        </p:spPr>
        <p:txBody>
          <a:bodyPr anchor="ctr">
            <a:normAutofit/>
          </a:bodyPr>
          <a:lstStyle/>
          <a:p>
            <a:r>
              <a:rPr lang="en-US" dirty="0"/>
              <a:t>GESTION DU PROFIL :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6B22B7-9662-0142-12FA-1E8368D88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27" y="640080"/>
            <a:ext cx="5122889" cy="2103120"/>
          </a:xfrm>
        </p:spPr>
        <p:txBody>
          <a:bodyPr anchor="ctr">
            <a:normAutofit/>
          </a:bodyPr>
          <a:lstStyle/>
          <a:p>
            <a:r>
              <a:rPr lang="fr-FR" dirty="0"/>
              <a:t>L’utilisateur peut consulter et modifier ses informations personnelles à tout moment.</a:t>
            </a:r>
            <a:br>
              <a:rPr lang="fr-FR" dirty="0"/>
            </a:br>
            <a:r>
              <a:rPr lang="fr-FR" dirty="0"/>
              <a:t>Les modifications sont enregistrées immédiatement dans le système.</a:t>
            </a:r>
            <a:endParaRPr lang="en-US" dirty="0"/>
          </a:p>
        </p:txBody>
      </p:sp>
      <p:pic>
        <p:nvPicPr>
          <p:cNvPr id="6" name="Picture Placeholder 21">
            <a:extLst>
              <a:ext uri="{FF2B5EF4-FFF2-40B4-BE49-F238E27FC236}">
                <a16:creationId xmlns:a16="http://schemas.microsoft.com/office/drawing/2014/main" id="{C62B38E8-14CC-9670-E967-7818E8405654}"/>
              </a:ext>
            </a:extLst>
          </p:cNvPr>
          <p:cNvPicPr>
            <a:picLocks noGrp="1" noChangeAspect="1"/>
          </p:cNvPicPr>
          <p:nvPr>
            <p:ph idx="21"/>
          </p:nvPr>
        </p:nvPicPr>
        <p:blipFill>
          <a:blip r:embed="rId3"/>
          <a:stretch/>
        </p:blipFill>
        <p:spPr>
          <a:xfrm>
            <a:off x="3035294" y="3017520"/>
            <a:ext cx="6863883" cy="3208866"/>
          </a:xfrm>
          <a:noFill/>
        </p:spPr>
      </p:pic>
    </p:spTree>
    <p:extLst>
      <p:ext uri="{BB962C8B-B14F-4D97-AF65-F5344CB8AC3E}">
        <p14:creationId xmlns:p14="http://schemas.microsoft.com/office/powerpoint/2010/main" val="48517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386B8-E9B2-BD41-EC60-A40B84F0B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4C0D05-BE61-C274-604E-88CB07E9E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 anchor="b">
            <a:normAutofit/>
          </a:bodyPr>
          <a:lstStyle/>
          <a:p>
            <a:r>
              <a:rPr lang="en-US" dirty="0"/>
              <a:t>AJOUT D’UN VÉHICULE : 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Placeholder 21">
            <a:extLst>
              <a:ext uri="{FF2B5EF4-FFF2-40B4-BE49-F238E27FC236}">
                <a16:creationId xmlns:a16="http://schemas.microsoft.com/office/drawing/2014/main" id="{73D88787-1C7F-9354-CAE0-3F95622B06E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/>
        </p:blipFill>
        <p:spPr>
          <a:xfrm>
            <a:off x="1280160" y="2966526"/>
            <a:ext cx="4846320" cy="2762402"/>
          </a:xfrm>
          <a:noFill/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D340287-8DFC-0CC0-6B54-6CFD053EB4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3402" y="2327441"/>
            <a:ext cx="4846320" cy="4040574"/>
          </a:xfrm>
        </p:spPr>
        <p:txBody>
          <a:bodyPr>
            <a:normAutofit/>
          </a:bodyPr>
          <a:lstStyle/>
          <a:p>
            <a:r>
              <a:rPr lang="fr-FR" dirty="0"/>
              <a:t>Un utilisateur peut ajouter un véhicule pour activer le rôle de conducteur.</a:t>
            </a:r>
            <a:br>
              <a:rPr lang="fr-FR" dirty="0"/>
            </a:br>
            <a:r>
              <a:rPr lang="fr-FR" dirty="0"/>
              <a:t>Cela lui permet ensuite de proposer des trajets aux autres utilisateurs.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206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60A9C-7369-CADE-7AC1-5697365B7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CF55C2-3D53-5E73-A9A2-7BEDAA4DE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 anchor="b">
            <a:normAutofit/>
          </a:bodyPr>
          <a:lstStyle/>
          <a:p>
            <a:r>
              <a:rPr lang="en-US" dirty="0"/>
              <a:t>PUBLICATION D’UN TRAJET :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Placeholder 21">
            <a:extLst>
              <a:ext uri="{FF2B5EF4-FFF2-40B4-BE49-F238E27FC236}">
                <a16:creationId xmlns:a16="http://schemas.microsoft.com/office/drawing/2014/main" id="{FF51567F-E8F1-9435-3885-8A2E750948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/>
        </p:blipFill>
        <p:spPr>
          <a:xfrm>
            <a:off x="1280160" y="2893831"/>
            <a:ext cx="4846320" cy="2907791"/>
          </a:xfrm>
          <a:noFill/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F67067E-49F8-E8E1-83B1-7AD89A659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3402" y="2327441"/>
            <a:ext cx="4846320" cy="4040574"/>
          </a:xfrm>
        </p:spPr>
        <p:txBody>
          <a:bodyPr>
            <a:normAutofit/>
          </a:bodyPr>
          <a:lstStyle/>
          <a:p>
            <a:r>
              <a:rPr lang="fr-FR" dirty="0"/>
              <a:t>Le conducteur peut créer un trajet en renseignant :</a:t>
            </a:r>
          </a:p>
          <a:p>
            <a:endParaRPr lang="en-US" dirty="0"/>
          </a:p>
          <a:p>
            <a:r>
              <a:rPr lang="en-US" dirty="0"/>
              <a:t>. le point de depart .</a:t>
            </a:r>
          </a:p>
          <a:p>
            <a:r>
              <a:rPr lang="en-US" dirty="0"/>
              <a:t>. la destination .</a:t>
            </a:r>
          </a:p>
          <a:p>
            <a:r>
              <a:rPr lang="en-US" dirty="0"/>
              <a:t>, la date et </a:t>
            </a:r>
            <a:r>
              <a:rPr lang="en-US" dirty="0" err="1"/>
              <a:t>l’heure</a:t>
            </a:r>
            <a:r>
              <a:rPr lang="en-US" dirty="0"/>
              <a:t> .</a:t>
            </a:r>
          </a:p>
          <a:p>
            <a:r>
              <a:rPr lang="en-US" dirty="0"/>
              <a:t>. </a:t>
            </a:r>
            <a:r>
              <a:rPr lang="fr-FR" dirty="0"/>
              <a:t>le nombre de places disponibles .</a:t>
            </a:r>
          </a:p>
          <a:p>
            <a:endParaRPr lang="fr-FR" dirty="0"/>
          </a:p>
          <a:p>
            <a:r>
              <a:rPr lang="fr-FR" dirty="0"/>
              <a:t>Le trajet devient ensuite visible pour les passagers.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71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B67BC-AF7F-CCF9-6891-CCDD59878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3782A0-3E59-3227-FC80-33BBF1737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640080"/>
            <a:ext cx="4815836" cy="2103120"/>
          </a:xfrm>
        </p:spPr>
        <p:txBody>
          <a:bodyPr anchor="ctr">
            <a:normAutofit/>
          </a:bodyPr>
          <a:lstStyle/>
          <a:p>
            <a:r>
              <a:rPr lang="en-US" dirty="0"/>
              <a:t>RECHERCHE DE TRAJET :</a:t>
            </a:r>
            <a:br>
              <a:rPr lang="en-US" dirty="0"/>
            </a:b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DD54DA-A0F8-B0F2-FEE0-4B723A7E9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27" y="640080"/>
            <a:ext cx="5122889" cy="2103120"/>
          </a:xfrm>
        </p:spPr>
        <p:txBody>
          <a:bodyPr anchor="ctr">
            <a:normAutofit/>
          </a:bodyPr>
          <a:lstStyle/>
          <a:p>
            <a:r>
              <a:rPr lang="fr-FR"/>
              <a:t>Le passager peut rechercher un trajet en fonction de ses besoins (lieu, date, destination).</a:t>
            </a:r>
            <a:br>
              <a:rPr lang="fr-FR"/>
            </a:br>
            <a:r>
              <a:rPr lang="fr-FR"/>
              <a:t>Le système affiche automatiquement les trajets correspondants.</a:t>
            </a:r>
            <a:endParaRPr lang="en-US"/>
          </a:p>
        </p:txBody>
      </p:sp>
      <p:pic>
        <p:nvPicPr>
          <p:cNvPr id="6" name="Picture Placeholder 21">
            <a:extLst>
              <a:ext uri="{FF2B5EF4-FFF2-40B4-BE49-F238E27FC236}">
                <a16:creationId xmlns:a16="http://schemas.microsoft.com/office/drawing/2014/main" id="{9ABE307D-68B2-CC60-7086-14C3B254FD4B}"/>
              </a:ext>
            </a:extLst>
          </p:cNvPr>
          <p:cNvPicPr>
            <a:picLocks noGrp="1" noChangeAspect="1"/>
          </p:cNvPicPr>
          <p:nvPr>
            <p:ph idx="21"/>
          </p:nvPr>
        </p:nvPicPr>
        <p:blipFill>
          <a:blip r:embed="rId3"/>
          <a:stretch/>
        </p:blipFill>
        <p:spPr>
          <a:xfrm>
            <a:off x="2041214" y="3017520"/>
            <a:ext cx="8852043" cy="3208866"/>
          </a:xfrm>
          <a:noFill/>
        </p:spPr>
      </p:pic>
    </p:spTree>
    <p:extLst>
      <p:ext uri="{BB962C8B-B14F-4D97-AF65-F5344CB8AC3E}">
        <p14:creationId xmlns:p14="http://schemas.microsoft.com/office/powerpoint/2010/main" val="1479393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58669-E93E-403A-6C0B-2431A3B45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605C48-7561-B86E-580D-50498A08A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640080"/>
            <a:ext cx="4815836" cy="2103120"/>
          </a:xfrm>
        </p:spPr>
        <p:txBody>
          <a:bodyPr anchor="ctr">
            <a:normAutofit/>
          </a:bodyPr>
          <a:lstStyle/>
          <a:p>
            <a:r>
              <a:rPr lang="en-US" dirty="0"/>
              <a:t>CONSULTATION DES TRAJETS:</a:t>
            </a:r>
            <a:br>
              <a:rPr lang="en-US" dirty="0"/>
            </a:br>
            <a:endParaRPr lang="en-US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34CBC87-769A-83BC-CFF5-0ADE5D558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27" y="640080"/>
            <a:ext cx="5122889" cy="2103120"/>
          </a:xfrm>
        </p:spPr>
        <p:txBody>
          <a:bodyPr anchor="ctr">
            <a:normAutofit/>
          </a:bodyPr>
          <a:lstStyle/>
          <a:p>
            <a:r>
              <a:rPr lang="fr-FR"/>
              <a:t>Les trajets disponibles sont affichés avec toutes les informations importantes :</a:t>
            </a:r>
            <a:br>
              <a:rPr lang="fr-FR"/>
            </a:br>
            <a:r>
              <a:rPr lang="fr-FR"/>
              <a:t>départ, destination, horaire et places disponibles.</a:t>
            </a:r>
            <a:endParaRPr lang="en-US"/>
          </a:p>
        </p:txBody>
      </p:sp>
      <p:pic>
        <p:nvPicPr>
          <p:cNvPr id="6" name="Picture Placeholder 21">
            <a:extLst>
              <a:ext uri="{FF2B5EF4-FFF2-40B4-BE49-F238E27FC236}">
                <a16:creationId xmlns:a16="http://schemas.microsoft.com/office/drawing/2014/main" id="{18C6E2ED-52D7-9D2F-85BF-603619A42EED}"/>
              </a:ext>
            </a:extLst>
          </p:cNvPr>
          <p:cNvPicPr>
            <a:picLocks noGrp="1" noChangeAspect="1"/>
          </p:cNvPicPr>
          <p:nvPr>
            <p:ph idx="21"/>
          </p:nvPr>
        </p:nvPicPr>
        <p:blipFill>
          <a:blip r:embed="rId3"/>
          <a:stretch/>
        </p:blipFill>
        <p:spPr>
          <a:xfrm>
            <a:off x="2624282" y="3017520"/>
            <a:ext cx="7685907" cy="3208866"/>
          </a:xfrm>
          <a:noFill/>
        </p:spPr>
      </p:pic>
    </p:spTree>
    <p:extLst>
      <p:ext uri="{BB962C8B-B14F-4D97-AF65-F5344CB8AC3E}">
        <p14:creationId xmlns:p14="http://schemas.microsoft.com/office/powerpoint/2010/main" val="737333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D5EB6-290E-8653-19A7-0BFB25404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110277-D30A-3D23-564A-B27A294D4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 anchor="b">
            <a:normAutofit/>
          </a:bodyPr>
          <a:lstStyle/>
          <a:p>
            <a:r>
              <a:rPr lang="en-US" dirty="0"/>
              <a:t>RÉSERVATION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Placeholder 21">
            <a:extLst>
              <a:ext uri="{FF2B5EF4-FFF2-40B4-BE49-F238E27FC236}">
                <a16:creationId xmlns:a16="http://schemas.microsoft.com/office/drawing/2014/main" id="{6B7E039F-4539-67CE-7C95-0D0DEC065CC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/>
        </p:blipFill>
        <p:spPr>
          <a:xfrm>
            <a:off x="1280160" y="3305768"/>
            <a:ext cx="4846320" cy="2083917"/>
          </a:xfrm>
          <a:noFill/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75BCA61-D4B9-BA30-4989-4BD22CFCF1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3402" y="2327441"/>
            <a:ext cx="4846320" cy="4040574"/>
          </a:xfrm>
        </p:spPr>
        <p:txBody>
          <a:bodyPr>
            <a:normAutofit/>
          </a:bodyPr>
          <a:lstStyle/>
          <a:p>
            <a:r>
              <a:rPr lang="fr-FR" dirty="0"/>
              <a:t>Le passager peut envoyer une demande de réservation pour un trajet.</a:t>
            </a:r>
            <a:br>
              <a:rPr lang="fr-FR" dirty="0"/>
            </a:br>
            <a:r>
              <a:rPr lang="fr-FR" dirty="0"/>
              <a:t>Cette demande est ensuite envoyée au conducteur pour validation.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166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DA0E0-8B34-C079-7C24-5B5D6EF83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6F6367-16CC-ED82-C51D-9A87ACECC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 anchor="b">
            <a:normAutofit/>
          </a:bodyPr>
          <a:lstStyle/>
          <a:p>
            <a:r>
              <a:rPr lang="en-US" dirty="0"/>
              <a:t>GESTION DES RÉSERVATIONS :</a:t>
            </a:r>
            <a:br>
              <a:rPr lang="en-US" dirty="0"/>
            </a:br>
            <a:endParaRPr lang="en-US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17624B2-802D-7910-0C42-4D556DFE5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4846320" cy="4040574"/>
          </a:xfrm>
        </p:spPr>
        <p:txBody>
          <a:bodyPr>
            <a:normAutofit/>
          </a:bodyPr>
          <a:lstStyle/>
          <a:p>
            <a:r>
              <a:rPr lang="fr-FR" dirty="0"/>
              <a:t>L’utilisateur peut suivre l’état de ses réservations :</a:t>
            </a:r>
          </a:p>
          <a:p>
            <a:endParaRPr lang="en-US" dirty="0"/>
          </a:p>
          <a:p>
            <a:r>
              <a:rPr lang="en-US" b="1"/>
              <a:t>. </a:t>
            </a:r>
            <a:r>
              <a:rPr lang="en-US" b="1" err="1"/>
              <a:t>en</a:t>
            </a:r>
            <a:r>
              <a:rPr lang="en-US" b="1"/>
              <a:t> </a:t>
            </a:r>
            <a:r>
              <a:rPr lang="en-US" b="1" err="1"/>
              <a:t>attente</a:t>
            </a:r>
            <a:endParaRPr lang="en-US" b="1"/>
          </a:p>
          <a:p>
            <a:r>
              <a:rPr lang="en-US" b="1"/>
              <a:t>, </a:t>
            </a:r>
            <a:r>
              <a:rPr lang="en-US" b="1" err="1"/>
              <a:t>acceptée</a:t>
            </a:r>
            <a:endParaRPr lang="en-US" b="1"/>
          </a:p>
          <a:p>
            <a:r>
              <a:rPr lang="en-US" b="1"/>
              <a:t>, refuse</a:t>
            </a:r>
          </a:p>
          <a:p>
            <a:r>
              <a:rPr lang="en-US" b="1"/>
              <a:t>, </a:t>
            </a:r>
            <a:r>
              <a:rPr lang="en-US" b="1" err="1"/>
              <a:t>annulée</a:t>
            </a:r>
            <a:endParaRPr lang="en-US" b="1"/>
          </a:p>
          <a:p>
            <a:endParaRPr lang="en-US" dirty="0"/>
          </a:p>
          <a:p>
            <a:r>
              <a:rPr lang="fr-FR" dirty="0"/>
              <a:t>Le conducteur peut accepter ou refuser les demandes.</a:t>
            </a:r>
            <a:endParaRPr lang="en-US" dirty="0"/>
          </a:p>
        </p:txBody>
      </p:sp>
      <p:pic>
        <p:nvPicPr>
          <p:cNvPr id="6" name="Picture Placeholder 21">
            <a:extLst>
              <a:ext uri="{FF2B5EF4-FFF2-40B4-BE49-F238E27FC236}">
                <a16:creationId xmlns:a16="http://schemas.microsoft.com/office/drawing/2014/main" id="{7A60493F-D826-2CC5-44CE-C4A4883D80B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/>
        </p:blipFill>
        <p:spPr>
          <a:xfrm>
            <a:off x="6723402" y="3142206"/>
            <a:ext cx="4846320" cy="2411044"/>
          </a:xfrm>
          <a:noFill/>
        </p:spPr>
      </p:pic>
    </p:spTree>
    <p:extLst>
      <p:ext uri="{BB962C8B-B14F-4D97-AF65-F5344CB8AC3E}">
        <p14:creationId xmlns:p14="http://schemas.microsoft.com/office/powerpoint/2010/main" val="1655656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05A99-9FA8-AD4A-5681-E7A49BC92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698A62-7E90-CC00-BC94-D67D6B17F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anchor="b">
            <a:normAutofit/>
          </a:bodyPr>
          <a:lstStyle/>
          <a:p>
            <a:r>
              <a:rPr lang="en-US" dirty="0"/>
              <a:t>NOTIFICATIONS :</a:t>
            </a:r>
            <a:br>
              <a:rPr lang="en-US" dirty="0"/>
            </a:br>
            <a:endParaRPr lang="en-US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9BBA970-AD0B-E550-580C-3CAC5BCCE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685800"/>
            <a:ext cx="4937760" cy="4023360"/>
          </a:xfrm>
        </p:spPr>
        <p:txBody>
          <a:bodyPr>
            <a:normAutofit/>
          </a:bodyPr>
          <a:lstStyle/>
          <a:p>
            <a:r>
              <a:rPr lang="fr-FR"/>
              <a:t>Le système envoie des notifications automatiques pour informer les utilisateurs :</a:t>
            </a:r>
          </a:p>
          <a:p>
            <a:endParaRPr lang="en-US"/>
          </a:p>
          <a:p>
            <a:r>
              <a:rPr lang="en-US" b="1"/>
              <a:t>. demande envoyée</a:t>
            </a:r>
          </a:p>
          <a:p>
            <a:r>
              <a:rPr lang="en-US" b="1"/>
              <a:t>, réservation acceptée ou refusée</a:t>
            </a:r>
          </a:p>
          <a:p>
            <a:r>
              <a:rPr lang="en-US" b="1"/>
              <a:t>, modification de trajet</a:t>
            </a:r>
          </a:p>
          <a:p>
            <a:endParaRPr lang="en-US"/>
          </a:p>
          <a:p>
            <a:r>
              <a:rPr lang="fr-FR"/>
              <a:t>Le conducteur peut accepter ou refuser les demandes.</a:t>
            </a:r>
            <a:endParaRPr lang="en-US" dirty="0"/>
          </a:p>
        </p:txBody>
      </p:sp>
      <p:pic>
        <p:nvPicPr>
          <p:cNvPr id="6" name="Picture Placeholder 21">
            <a:extLst>
              <a:ext uri="{FF2B5EF4-FFF2-40B4-BE49-F238E27FC236}">
                <a16:creationId xmlns:a16="http://schemas.microsoft.com/office/drawing/2014/main" id="{80806BCD-7E77-A3CE-C485-F69536AC571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/>
        </p:blipFill>
        <p:spPr>
          <a:xfrm>
            <a:off x="6704755" y="710032"/>
            <a:ext cx="4937760" cy="3974896"/>
          </a:xfrm>
          <a:noFill/>
        </p:spPr>
      </p:pic>
    </p:spTree>
    <p:extLst>
      <p:ext uri="{BB962C8B-B14F-4D97-AF65-F5344CB8AC3E}">
        <p14:creationId xmlns:p14="http://schemas.microsoft.com/office/powerpoint/2010/main" val="3478410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20E63-558B-2B83-0D3A-CEB5F262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E89993-697E-17D6-905B-869757B0B6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Administrateur :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530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6EB73-F4AD-3264-0413-C62EBF53F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CC8820-362F-D6F7-5C8F-94D98DADD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640080"/>
            <a:ext cx="4815836" cy="2103120"/>
          </a:xfrm>
        </p:spPr>
        <p:txBody>
          <a:bodyPr anchor="ctr">
            <a:normAutofit/>
          </a:bodyPr>
          <a:lstStyle/>
          <a:p>
            <a:r>
              <a:rPr lang="en-US" dirty="0"/>
              <a:t>MODULE ADMINISTRATEUR</a:t>
            </a:r>
            <a:br>
              <a:rPr lang="en-US" dirty="0"/>
            </a:br>
            <a:endParaRPr lang="en-US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0B9392A-63C9-C868-0FDB-8A722C8FD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27" y="640080"/>
            <a:ext cx="5122889" cy="2103120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fr-FR" sz="1100" dirty="0"/>
              <a:t>L’administrateur dispose d’un tableau de bord lui permettant de :</a:t>
            </a:r>
          </a:p>
          <a:p>
            <a:pPr>
              <a:lnSpc>
                <a:spcPct val="100000"/>
              </a:lnSpc>
            </a:pP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600" b="1" dirty="0"/>
              <a:t>. </a:t>
            </a:r>
            <a:r>
              <a:rPr lang="en-US" sz="1600" b="1" dirty="0" err="1"/>
              <a:t>gérer</a:t>
            </a:r>
            <a:r>
              <a:rPr lang="en-US" sz="1600" b="1" dirty="0"/>
              <a:t> les </a:t>
            </a:r>
            <a:r>
              <a:rPr lang="en-US" sz="1600" b="1" dirty="0" err="1"/>
              <a:t>comptes</a:t>
            </a:r>
            <a:r>
              <a:rPr lang="en-US" sz="1600" b="1" dirty="0"/>
              <a:t> </a:t>
            </a:r>
            <a:r>
              <a:rPr lang="en-US" sz="1600" b="1" dirty="0" err="1"/>
              <a:t>utilisateurs</a:t>
            </a:r>
            <a:endParaRPr lang="en-US" sz="1600" b="1" dirty="0"/>
          </a:p>
          <a:p>
            <a:pPr>
              <a:lnSpc>
                <a:spcPct val="100000"/>
              </a:lnSpc>
            </a:pPr>
            <a:r>
              <a:rPr lang="en-US" sz="1600" b="1" dirty="0"/>
              <a:t>,</a:t>
            </a:r>
            <a:r>
              <a:rPr lang="fr-FR" sz="1600" b="1" dirty="0"/>
              <a:t> activer ou désactiver des comptes</a:t>
            </a:r>
          </a:p>
          <a:p>
            <a:pPr>
              <a:lnSpc>
                <a:spcPct val="100000"/>
              </a:lnSpc>
            </a:pPr>
            <a:r>
              <a:rPr lang="en-US" sz="1600" b="1" dirty="0"/>
              <a:t>, </a:t>
            </a:r>
            <a:r>
              <a:rPr lang="fr-FR" sz="1600" b="1" dirty="0"/>
              <a:t>superviser les activités de la plateforme</a:t>
            </a:r>
          </a:p>
          <a:p>
            <a:pPr>
              <a:lnSpc>
                <a:spcPct val="100000"/>
              </a:lnSpc>
            </a:pPr>
            <a:endParaRPr lang="en-US" sz="1100" dirty="0"/>
          </a:p>
        </p:txBody>
      </p:sp>
      <p:pic>
        <p:nvPicPr>
          <p:cNvPr id="6" name="Picture Placeholder 21">
            <a:extLst>
              <a:ext uri="{FF2B5EF4-FFF2-40B4-BE49-F238E27FC236}">
                <a16:creationId xmlns:a16="http://schemas.microsoft.com/office/drawing/2014/main" id="{2FB8365D-F63F-0425-764E-D0A96CAEC967}"/>
              </a:ext>
            </a:extLst>
          </p:cNvPr>
          <p:cNvPicPr>
            <a:picLocks noGrp="1" noChangeAspect="1"/>
          </p:cNvPicPr>
          <p:nvPr>
            <p:ph idx="21"/>
          </p:nvPr>
        </p:nvPicPr>
        <p:blipFill>
          <a:blip r:embed="rId3"/>
          <a:stretch/>
        </p:blipFill>
        <p:spPr>
          <a:xfrm>
            <a:off x="2861769" y="3017520"/>
            <a:ext cx="7210933" cy="3208866"/>
          </a:xfrm>
          <a:noFill/>
        </p:spPr>
      </p:pic>
    </p:spTree>
    <p:extLst>
      <p:ext uri="{BB962C8B-B14F-4D97-AF65-F5344CB8AC3E}">
        <p14:creationId xmlns:p14="http://schemas.microsoft.com/office/powerpoint/2010/main" val="2537276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81C6D-8317-DAC5-7029-42003BF98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81299E-C537-3281-6359-1B76EEC60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 anchor="b">
            <a:normAutofit/>
          </a:bodyPr>
          <a:lstStyle/>
          <a:p>
            <a:r>
              <a:rPr lang="en-US" dirty="0"/>
              <a:t>STATISTIQUES</a:t>
            </a:r>
            <a:br>
              <a:rPr lang="en-US" dirty="0"/>
            </a:br>
            <a:endParaRPr lang="en-US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FC07069-BFD6-7B7B-96C2-2DAC20976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4846320" cy="4040574"/>
          </a:xfrm>
        </p:spPr>
        <p:txBody>
          <a:bodyPr>
            <a:normAutofit/>
          </a:bodyPr>
          <a:lstStyle/>
          <a:p>
            <a:r>
              <a:rPr lang="fr-FR"/>
              <a:t>Le tableau de bord affiche des statistiques globales :</a:t>
            </a:r>
          </a:p>
          <a:p>
            <a:endParaRPr lang="en-US"/>
          </a:p>
          <a:p>
            <a:r>
              <a:rPr lang="en-US" b="1"/>
              <a:t>. </a:t>
            </a:r>
            <a:r>
              <a:rPr lang="en-US" b="1" err="1"/>
              <a:t>nombre</a:t>
            </a:r>
            <a:r>
              <a:rPr lang="en-US" b="1"/>
              <a:t> total </a:t>
            </a:r>
            <a:r>
              <a:rPr lang="en-US" b="1" err="1"/>
              <a:t>d’utilisateurs</a:t>
            </a:r>
            <a:r>
              <a:rPr lang="en-US" b="1"/>
              <a:t> .</a:t>
            </a:r>
          </a:p>
          <a:p>
            <a:r>
              <a:rPr lang="en-US" b="1"/>
              <a:t>. </a:t>
            </a:r>
            <a:r>
              <a:rPr lang="en-US" b="1" err="1"/>
              <a:t>nombre</a:t>
            </a:r>
            <a:r>
              <a:rPr lang="en-US" b="1"/>
              <a:t> de </a:t>
            </a:r>
            <a:r>
              <a:rPr lang="en-US" b="1" err="1"/>
              <a:t>trajets</a:t>
            </a:r>
            <a:r>
              <a:rPr lang="en-US" b="1"/>
              <a:t> .  </a:t>
            </a:r>
          </a:p>
          <a:p>
            <a:r>
              <a:rPr lang="en-US" b="1"/>
              <a:t>, </a:t>
            </a:r>
            <a:r>
              <a:rPr lang="en-US" b="1" err="1"/>
              <a:t>nombre</a:t>
            </a:r>
            <a:r>
              <a:rPr lang="en-US" b="1"/>
              <a:t> de reservations .</a:t>
            </a:r>
          </a:p>
          <a:p>
            <a:endParaRPr lang="en-US"/>
          </a:p>
          <a:p>
            <a:r>
              <a:rPr lang="fr-FR"/>
              <a:t>Ces données permettent de suivre l’utilisation du système.</a:t>
            </a:r>
            <a:endParaRPr lang="en-US" b="1"/>
          </a:p>
        </p:txBody>
      </p:sp>
      <p:pic>
        <p:nvPicPr>
          <p:cNvPr id="6" name="Picture Placeholder 21">
            <a:extLst>
              <a:ext uri="{FF2B5EF4-FFF2-40B4-BE49-F238E27FC236}">
                <a16:creationId xmlns:a16="http://schemas.microsoft.com/office/drawing/2014/main" id="{A0E0CBF9-ED83-EA72-3BE2-7302F1E2A47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/>
        </p:blipFill>
        <p:spPr>
          <a:xfrm>
            <a:off x="6723402" y="3239133"/>
            <a:ext cx="4846320" cy="2217190"/>
          </a:xfrm>
          <a:noFill/>
        </p:spPr>
      </p:pic>
    </p:spTree>
    <p:extLst>
      <p:ext uri="{BB962C8B-B14F-4D97-AF65-F5344CB8AC3E}">
        <p14:creationId xmlns:p14="http://schemas.microsoft.com/office/powerpoint/2010/main" val="1647044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89414-E90C-AA55-D207-66E73D81C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714881-80E9-8408-00DA-F00C7D6CA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 anchor="b">
            <a:normAutofit/>
          </a:bodyPr>
          <a:lstStyle/>
          <a:p>
            <a:r>
              <a:rPr lang="en-US" dirty="0"/>
              <a:t>SÉCURITÉ </a:t>
            </a:r>
            <a:br>
              <a:rPr lang="en-US" dirty="0"/>
            </a:br>
            <a:endParaRPr lang="en-US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187638A-DB4E-D036-C90B-F2A3B53DD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4846320" cy="4040574"/>
          </a:xfrm>
        </p:spPr>
        <p:txBody>
          <a:bodyPr>
            <a:normAutofit/>
          </a:bodyPr>
          <a:lstStyle/>
          <a:p>
            <a:r>
              <a:rPr lang="fr-FR" dirty="0"/>
              <a:t>Le système assure la sécurité grâce à :</a:t>
            </a:r>
          </a:p>
          <a:p>
            <a:endParaRPr lang="en-US" dirty="0"/>
          </a:p>
          <a:p>
            <a:r>
              <a:rPr lang="en-US" b="1" dirty="0"/>
              <a:t>.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authentification</a:t>
            </a:r>
            <a:r>
              <a:rPr lang="en-US" dirty="0"/>
              <a:t> </a:t>
            </a:r>
            <a:r>
              <a:rPr lang="en-US" dirty="0" err="1"/>
              <a:t>obligatoire</a:t>
            </a:r>
            <a:endParaRPr lang="en-US" dirty="0"/>
          </a:p>
          <a:p>
            <a:r>
              <a:rPr lang="en-US" b="1" dirty="0"/>
              <a:t>.</a:t>
            </a:r>
            <a:r>
              <a:rPr lang="fr-FR" dirty="0"/>
              <a:t> une gestion des rôles (admin, conducteur, passager)</a:t>
            </a:r>
          </a:p>
          <a:p>
            <a:r>
              <a:rPr lang="en-US" b="1" dirty="0"/>
              <a:t>, </a:t>
            </a:r>
            <a:r>
              <a:rPr lang="fr-FR" dirty="0"/>
              <a:t>une protection des données utilisateurs </a:t>
            </a:r>
          </a:p>
          <a:p>
            <a:endParaRPr lang="en-US" dirty="0"/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D7A85005-6E2A-67F0-9B5F-4FDF961A8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26275" y="2327441"/>
            <a:ext cx="4040574" cy="4040574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940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3EF59-965B-1898-68DF-19B0F7394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3096912-DE71-8968-3205-A219EE949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CONCLUSION:</a:t>
            </a:r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7858A988-FE40-8D53-79C6-7DDED329F4D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53C80-D9AB-FD64-0A3F-EA80F05DD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2210889"/>
            <a:ext cx="7498080" cy="4023360"/>
          </a:xfrm>
        </p:spPr>
        <p:txBody>
          <a:bodyPr/>
          <a:lstStyle/>
          <a:p>
            <a:r>
              <a:rPr lang="fr-FR" sz="2800" dirty="0" err="1"/>
              <a:t>CampusRide</a:t>
            </a:r>
            <a:r>
              <a:rPr lang="fr-FR" sz="2800" dirty="0"/>
              <a:t> est une application complète qui répond aux besoins de covoiturage au sein du Collège La Cité.</a:t>
            </a:r>
            <a:br>
              <a:rPr lang="fr-FR" sz="2800" dirty="0"/>
            </a:br>
            <a:r>
              <a:rPr lang="fr-FR" sz="2800" dirty="0"/>
              <a:t>L’application répond aux besoins des utilisateurs et respecte les exigences fonctionnelles, techniques et de sécurité.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1778856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Personnalisé 2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00B050"/>
      </a:accent1>
      <a:accent2>
        <a:srgbClr val="00B050"/>
      </a:accent2>
      <a:accent3>
        <a:srgbClr val="00843B"/>
      </a:accent3>
      <a:accent4>
        <a:srgbClr val="00B050"/>
      </a:accent4>
      <a:accent5>
        <a:srgbClr val="00843B"/>
      </a:accent5>
      <a:accent6>
        <a:srgbClr val="005827"/>
      </a:accent6>
      <a:hlink>
        <a:srgbClr val="00B050"/>
      </a:hlink>
      <a:folHlink>
        <a:srgbClr val="005827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8E9556-96EB-43B4-8552-B18E859B65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{8F6CC7E9-D779-48D9-9F3D-52D935AE89E3}372c19de-dfd4-4de7-9293-53c5fa2d1f7c-TF54b766f8-63ee-43b7-9d15-113a5f305028b8e3081f_win32</Template>
  <TotalTime>837</TotalTime>
  <Words>592</Words>
  <Application>Microsoft Office PowerPoint</Application>
  <PresentationFormat>Grand écran</PresentationFormat>
  <Paragraphs>104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Arial</vt:lpstr>
      <vt:lpstr>Calibri</vt:lpstr>
      <vt:lpstr>Univers</vt:lpstr>
      <vt:lpstr>GradientVTI</vt:lpstr>
      <vt:lpstr>CampusRide</vt:lpstr>
      <vt:lpstr>Présenter par :</vt:lpstr>
      <vt:lpstr>CONTEXTE DU PROJET :</vt:lpstr>
      <vt:lpstr>OBJECTIFS </vt:lpstr>
      <vt:lpstr>TYPES D’UTILISATEURS :</vt:lpstr>
      <vt:lpstr>Passager et conducteur</vt:lpstr>
      <vt:lpstr>INSCRIPTION :</vt:lpstr>
      <vt:lpstr>CONNEXION :</vt:lpstr>
      <vt:lpstr>GESTION DU PROFIL :</vt:lpstr>
      <vt:lpstr>AJOUT D’UN VÉHICULE :  </vt:lpstr>
      <vt:lpstr>PUBLICATION D’UN TRAJET : </vt:lpstr>
      <vt:lpstr>RECHERCHE DE TRAJET : </vt:lpstr>
      <vt:lpstr>CONSULTATION DES TRAJETS: </vt:lpstr>
      <vt:lpstr>RÉSERVATION </vt:lpstr>
      <vt:lpstr>GESTION DES RÉSERVATIONS : </vt:lpstr>
      <vt:lpstr>NOTIFICATIONS : </vt:lpstr>
      <vt:lpstr>Administrateur : </vt:lpstr>
      <vt:lpstr>MODULE ADMINISTRATEUR </vt:lpstr>
      <vt:lpstr>STATISTIQUES </vt:lpstr>
      <vt:lpstr>SÉCURITÉ  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Abdallah Abdoudou</dc:creator>
  <cp:lastModifiedBy>Abdallah Abdoudou</cp:lastModifiedBy>
  <cp:revision>3</cp:revision>
  <dcterms:created xsi:type="dcterms:W3CDTF">2026-04-16T00:51:47Z</dcterms:created>
  <dcterms:modified xsi:type="dcterms:W3CDTF">2026-04-16T14:49:12Z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